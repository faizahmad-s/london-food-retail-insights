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" id="{1f743f5e-65b5-bf4e-5831-664f6bb99fed}">
          <p14:sldIdLst>
            <p14:sldId id="256"/>
            <p14:sldId id="257"/>
            <p14:sldId id="258"/>
          </p14:sldIdLst>
        </p14:section>
        <p14:section name="Findings" id="{007de7de-8399-d8d2-b55c-3d42ab88e39f}">
          <p14:sldIdLst>
            <p14:sldId id="259"/>
            <p14:sldId id="260"/>
            <p14:sldId id="261"/>
            <p14:sldId id="262"/>
            <p14:sldId id="263"/>
          </p14:sldIdLst>
        </p14:section>
        <p14:section name="Wrap-up" id="{94b3fca9-2380-faab-3d48-0a3d21b27464}">
          <p14:sldIdLst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rated businesses</c:v>
                </c:pt>
              </c:strCache>
            </c:strRef>
          </c:tx>
          <c:spPr>
            <a:solidFill>
              <a:srgbClr val="8A8A8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5</c:v>
                  </c:pt>
                  <c:pt idx="1">
                    <c:v>4</c:v>
                  </c:pt>
                  <c:pt idx="2">
                    <c:v>3</c:v>
                  </c:pt>
                  <c:pt idx="3">
                    <c:v>2</c:v>
                  </c:pt>
                  <c:pt idx="4">
                    <c:v>1</c:v>
                  </c:pt>
                  <c:pt idx="5">
                    <c:v>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68.3</c:v>
                </c:pt>
                <c:pt idx="1">
                  <c:v>17.6</c:v>
                </c:pt>
                <c:pt idx="2">
                  <c:v>8.5</c:v>
                </c:pt>
                <c:pt idx="3">
                  <c:v>2.8</c:v>
                </c:pt>
                <c:pt idx="4">
                  <c:v>2.3</c:v>
                </c:pt>
                <c:pt idx="5">
                  <c:v>0.4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5F5F5F"/>
                    </a:solidFill>
                    <a:latin typeface="Arial"/>
                  </a:defRPr>
                </a:pPr>
                <a:r>
                  <a:rPr sz="1300" b="0" i="0" u="none" strike="noStrike">
                    <a:solidFill>
                      <a:srgbClr val="5F5F5F"/>
                    </a:solidFill>
                    <a:latin typeface="Arial"/>
                  </a:rPr>
                  <a:t>Hygiene rating (5 is best)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rated 5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City of London</c:v>
                  </c:pt>
                  <c:pt idx="1">
                    <c:v>Kensington and Chelsea</c:v>
                  </c:pt>
                  <c:pt idx="2">
                    <c:v>Merton</c:v>
                  </c:pt>
                  <c:pt idx="3">
                    <c:v>Greenwich</c:v>
                  </c:pt>
                  <c:pt idx="4">
                    <c:v>Haringey</c:v>
                  </c:pt>
                  <c:pt idx="5">
                    <c:v>Camden</c:v>
                  </c:pt>
                  <c:pt idx="6">
                    <c:v>Ealing</c:v>
                  </c:pt>
                  <c:pt idx="7">
                    <c:v>Barking and Dagenham</c:v>
                  </c:pt>
                  <c:pt idx="8">
                    <c:v>Waltham Forest</c:v>
                  </c:pt>
                  <c:pt idx="9">
                    <c:v>Newham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87.8</c:v>
                </c:pt>
                <c:pt idx="1">
                  <c:v>87.7</c:v>
                </c:pt>
                <c:pt idx="2">
                  <c:v>81.4</c:v>
                </c:pt>
                <c:pt idx="3">
                  <c:v>79.5</c:v>
                </c:pt>
                <c:pt idx="4">
                  <c:v>78.4</c:v>
                </c:pt>
                <c:pt idx="5">
                  <c:v>59.2</c:v>
                </c:pt>
                <c:pt idx="6">
                  <c:v>58</c:v>
                </c:pt>
                <c:pt idx="7">
                  <c:v>55.2</c:v>
                </c:pt>
                <c:pt idx="8">
                  <c:v>52</c:v>
                </c:pt>
                <c:pt idx="9">
                  <c:v>49.1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minus expected rating</c:v>
                </c:pt>
              </c:strCache>
            </c:strRef>
          </c:tx>
          <c:spPr>
            <a:solidFill>
              <a:srgbClr val="B5372C"/>
            </a:solidFill>
            <a:effectLst/>
          </c:spPr>
          <c:invertIfNegative val="0"/>
          <c:dLbls>
            <c:numFmt formatCode="+0.00;-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Newham</c:v>
                  </c:pt>
                  <c:pt idx="1">
                    <c:v>Waltham Forest</c:v>
                  </c:pt>
                  <c:pt idx="2">
                    <c:v>Ealing</c:v>
                  </c:pt>
                  <c:pt idx="3">
                    <c:v>Merton</c:v>
                  </c:pt>
                  <c:pt idx="4">
                    <c:v>City of London</c:v>
                  </c:pt>
                  <c:pt idx="5">
                    <c:v>Kensington and Chelsea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-0.5</c:v>
                </c:pt>
                <c:pt idx="1">
                  <c:v>-0.4</c:v>
                </c:pt>
                <c:pt idx="2">
                  <c:v>-0.31</c:v>
                </c:pt>
                <c:pt idx="3">
                  <c:v>0.29</c:v>
                </c:pt>
                <c:pt idx="4">
                  <c:v>0.36</c:v>
                </c:pt>
                <c:pt idx="5">
                  <c:v>0.37</c:v>
                </c:pt>
              </c:numCache>
            </c:numRef>
          </c:val>
        </c:ser>
        <c:dLbls>
          <c:numFmt formatCode="+0.00;-0.00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-0.7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rated 5</c:v>
                </c:pt>
              </c:strCache>
            </c:strRef>
          </c:tx>
          <c:spPr>
            <a:solidFill>
              <a:srgbClr val="4A4A4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4A4A4A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11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12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cat>
            <c:multiLvlStrRef>
              <c:f>Sheet1!$A$2:$A$14</c:f>
              <c:multiLvlStrCache>
                <c:ptCount val="13"/>
                <c:lvl>
                  <c:pt idx="0">
                    <c:v>Schools/universities</c:v>
                  </c:pt>
                  <c:pt idx="1">
                    <c:v>Supermarkets</c:v>
                  </c:pt>
                  <c:pt idx="2">
                    <c:v>Caring premises</c:v>
                  </c:pt>
                  <c:pt idx="3">
                    <c:v>Hotels and B&amp;Bs</c:v>
                  </c:pt>
                  <c:pt idx="4">
                    <c:v>Importers/exporters</c:v>
                  </c:pt>
                  <c:pt idx="5">
                    <c:v>Distributors</c:v>
                  </c:pt>
                  <c:pt idx="6">
                    <c:v>Other catering</c:v>
                  </c:pt>
                  <c:pt idx="7">
                    <c:v>Mobile caterers</c:v>
                  </c:pt>
                  <c:pt idx="8">
                    <c:v>Pubs and bars</c:v>
                  </c:pt>
                  <c:pt idx="9">
                    <c:v>Manufacturers</c:v>
                  </c:pt>
                  <c:pt idx="10">
                    <c:v>Restaurants/cafés</c:v>
                  </c:pt>
                  <c:pt idx="11">
                    <c:v>Takeaways/sandwich</c:v>
                  </c:pt>
                  <c:pt idx="12">
                    <c:v>Other retailers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88.9</c:v>
                </c:pt>
                <c:pt idx="1">
                  <c:v>83.8</c:v>
                </c:pt>
                <c:pt idx="2">
                  <c:v>83.4</c:v>
                </c:pt>
                <c:pt idx="3">
                  <c:v>80.7</c:v>
                </c:pt>
                <c:pt idx="4">
                  <c:v>79.2</c:v>
                </c:pt>
                <c:pt idx="5">
                  <c:v>79</c:v>
                </c:pt>
                <c:pt idx="6">
                  <c:v>78</c:v>
                </c:pt>
                <c:pt idx="7">
                  <c:v>76.2</c:v>
                </c:pt>
                <c:pt idx="8">
                  <c:v>74.5</c:v>
                </c:pt>
                <c:pt idx="9">
                  <c:v>73.8</c:v>
                </c:pt>
                <c:pt idx="10">
                  <c:v>67</c:v>
                </c:pt>
                <c:pt idx="11">
                  <c:v>57</c:v>
                </c:pt>
                <c:pt idx="12">
                  <c:v>56.8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all businesses</c:v>
                </c:pt>
              </c:strCache>
            </c:strRef>
          </c:tx>
          <c:spPr>
            <a:solidFill>
              <a:srgbClr val="C9C6BF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Other retailers</c:v>
                  </c:pt>
                  <c:pt idx="1">
                    <c:v>Takeaways/sandwich</c:v>
                  </c:pt>
                  <c:pt idx="2">
                    <c:v>Restaurants/cafés</c:v>
                  </c:pt>
                  <c:pt idx="3">
                    <c:v>Schools/universities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19.1</c:v>
                </c:pt>
                <c:pt idx="1">
                  <c:v>12</c:v>
                </c:pt>
                <c:pt idx="2">
                  <c:v>35.1</c:v>
                </c:pt>
                <c:pt idx="3">
                  <c:v>4.6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Share of all 0 to 2 ratings</c:v>
                </c:pt>
              </c:strCache>
            </c:strRef>
          </c:tx>
          <c:spPr>
            <a:solidFill>
              <a:srgbClr val="B5372C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Other retailers</c:v>
                  </c:pt>
                  <c:pt idx="1">
                    <c:v>Takeaways/sandwich</c:v>
                  </c:pt>
                  <c:pt idx="2">
                    <c:v>Restaurants/cafés</c:v>
                  </c:pt>
                  <c:pt idx="3">
                    <c:v>Schools/universities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30.8</c:v>
                </c:pt>
                <c:pt idx="1">
                  <c:v>16.8</c:v>
                </c:pt>
                <c:pt idx="2">
                  <c:v>37</c:v>
                </c:pt>
                <c:pt idx="3">
                  <c:v>0.9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222222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Points worse than a 5-rated business</c:v>
                </c:pt>
              </c:strCache>
            </c:strRef>
          </c:tx>
          <c:spPr>
            <a:solidFill>
              <a:srgbClr val="B5372C"/>
            </a:solidFill>
            <a:effectLst/>
          </c:spPr>
          <c:invertIfNegative val="0"/>
          <c:dLbls>
            <c:numFmt formatCode="+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2222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5372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8A8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Confidence in management</c:v>
                  </c:pt>
                  <c:pt idx="1">
                    <c:v>Structural compliance</c:v>
                  </c:pt>
                  <c:pt idx="2">
                    <c:v>Hygienic food handling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12.2</c:v>
                </c:pt>
                <c:pt idx="1">
                  <c:v>10.8</c:v>
                </c:pt>
                <c:pt idx="2">
                  <c:v>8.7</c:v>
                </c:pt>
              </c:numCache>
            </c:numRef>
          </c:val>
        </c:ser>
        <c:dLbls>
          <c:numFmt formatCode="+0.0" sourceLinked="0"/>
          <c:txPr>
            <a:bodyPr/>
            <a:lstStyle/>
            <a:p>
              <a:pPr>
                <a:defRPr b="0" i="0" strike="noStrike" sz="1300" u="none">
                  <a:solidFill>
                    <a:srgbClr val="2222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2222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Exploratory analysis of the FSA Food Hygiene Rating Scheme for London. Every number comes from SQL files 8 to 15 in the 2_EDA_by_SQL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seven steps are the reusable part. Each SQL file belongs to one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audit is why everything after it can be trusted. One view fixes two problems.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distribution is heavily skewed, so the average hides the tail. The share rated 0 to 2 is the number to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Location is associated with a very different chance of a top rating. The next slide tests whether it is just business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check that stops a lazy conclusion. Expected for Newham is 4.43, actual is 3.94.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Business type is the second driver. Restaurants, takeaways and other retailers are the biggest groups.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Over-representation: other retailers have a bigger share of the poor ratings than of the businesses. Schools are the opposite.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FSA scores run 0 to 30 per component and lower is better. A failing business is worst on management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findings are descriptive: they show where ratings are lower, not why. The next steps are aimed at the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42416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424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tx1"/>
                </a:solidFill>
              </a:rPr>
              <a:t>What 79,726 hygiene ratings say about London's food businesses</a:t>
            </a: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Exploratory analysis of Food Standards Agency ratings, 33 London local authorities, in PostgreSQL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Faizanahmad Sangolli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data is and how I explored it</a:t>
            </a:r>
            <a:endParaRPr lang="en-US" sz="3200" dirty="0"/>
          </a:p>
        </p:txBody>
      </p:sp>
      <p:graphicFrame>
        <p:nvGraphicFramePr>
          <p:cNvPr id="3" name="EDA framework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4846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Step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Question I asked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Frame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is one row, and what am I trying to answer?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Structure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Which columns, types and categories do I have?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Quality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Duplicates, blanks, placeholders, impossible values?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Distribution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does each measure look like on its own?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Segments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Which boroughs and business types differ?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How fresh are the ratings?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Insights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What moves together, and what is the so what?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tat 79,726"/>
          <p:cNvSpPr txBox="1"/>
          <p:nvPr/>
        </p:nvSpPr>
        <p:spPr>
          <a:xfrm>
            <a:off x="8229600" y="16459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79,726</a:t>
            </a:r>
            <a:endParaRPr lang="en-US" sz="5400" dirty="0"/>
          </a:p>
        </p:txBody>
      </p:sp>
      <p:sp>
        <p:nvSpPr>
          <p:cNvPr id="5" name="Stat label"/>
          <p:cNvSpPr txBox="1"/>
          <p:nvPr/>
        </p:nvSpPr>
        <p:spPr>
          <a:xfrm>
            <a:off x="8229600" y="25146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food businesses, one row each</a:t>
            </a:r>
            <a:endParaRPr lang="en-US" sz="1600" dirty="0"/>
          </a:p>
        </p:txBody>
      </p:sp>
      <p:sp>
        <p:nvSpPr>
          <p:cNvPr id="6" name="Stat 33"/>
          <p:cNvSpPr txBox="1"/>
          <p:nvPr/>
        </p:nvSpPr>
        <p:spPr>
          <a:xfrm>
            <a:off x="8229600" y="3200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5400" dirty="0"/>
          </a:p>
        </p:txBody>
      </p:sp>
      <p:sp>
        <p:nvSpPr>
          <p:cNvPr id="7" name="Stat label"/>
          <p:cNvSpPr txBox="1"/>
          <p:nvPr/>
        </p:nvSpPr>
        <p:spPr>
          <a:xfrm>
            <a:off x="8229600" y="4069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local authorities, including the City of London</a:t>
            </a:r>
            <a:endParaRPr lang="en-US" sz="1600" dirty="0"/>
          </a:p>
        </p:txBody>
      </p:sp>
      <p:sp>
        <p:nvSpPr>
          <p:cNvPr id="8" name="Stat 69,839"/>
          <p:cNvSpPr txBox="1"/>
          <p:nvPr/>
        </p:nvSpPr>
        <p:spPr>
          <a:xfrm>
            <a:off x="8229600" y="4754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69,839</a:t>
            </a:r>
            <a:endParaRPr lang="en-US" sz="5400" dirty="0"/>
          </a:p>
        </p:txBody>
      </p:sp>
      <p:sp>
        <p:nvSpPr>
          <p:cNvPr id="9" name="Stat label"/>
          <p:cNvSpPr txBox="1"/>
          <p:nvPr/>
        </p:nvSpPr>
        <p:spPr>
          <a:xfrm>
            <a:off x="8229600" y="56235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have a real 0 to 5 rating</a:t>
            </a:r>
            <a:endParaRPr lang="en-US" sz="1600" dirty="0"/>
          </a:p>
        </p:txBody>
      </p:sp>
      <p:sp>
        <p:nvSpPr>
          <p:cNvPr id="10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Source: FSA Food Hygiene Rating Scheme API, loaded to PostgreSQL table fsa_rating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12% of businesses have no usable rating</a:t>
            </a:r>
            <a:endParaRPr lang="en-US" sz="3200" dirty="0"/>
          </a:p>
        </p:txBody>
      </p:sp>
      <p:graphicFrame>
        <p:nvGraphicFramePr>
          <p:cNvPr id="4" name="Quality audi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28016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Issue found in the audit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Rows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How it is handled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22222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Awaiting inspection, exempt or awaiting publication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9,887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Excluded through the fsa_rated view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Placeholder dates (1900 and 1901)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9,887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Same rows, so dates are clean after exclusion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Rated, but all three sub-scores missing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801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Kept; total score left blank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coordinates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13,622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Left out of any map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Coordinates outside Greater London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Flagged as bad geocodes</a:t>
                      </a:r>
                      <a:endParaRPr lang="en-US" sz="1400" dirty="0"/>
                    </a:p>
                  </a:txBody>
                  <a:tcPr marL="4572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akeaway"/>
          <p:cNvSpPr txBox="1"/>
          <p:nvPr/>
        </p:nvSpPr>
        <p:spPr>
          <a:xfrm>
            <a:off x="548640" y="50292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Why it matters: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unrated businesses and the 1901 dates are the same 9,887 rows. Left in, they would have created a fake year in every change-over-time query and pulled every percentage down: five-star would read 59.9% instead of 68.3%.</a:t>
            </a:r>
            <a:endParaRPr lang="en-US" sz="1800" dirty="0"/>
          </a:p>
        </p:txBody>
      </p:sp>
      <p:sp>
        <p:nvSpPr>
          <p:cNvPr id="5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SQL: 8_Data_Quality_Audit.sql, 9_Analysis_View.sql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Most are rated 5, but 5.5% are rated 0 to 2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73152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86.0%"/>
          <p:cNvSpPr txBox="1"/>
          <p:nvPr/>
        </p:nvSpPr>
        <p:spPr>
          <a:xfrm>
            <a:off x="859536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86.0%</a:t>
            </a:r>
            <a:endParaRPr lang="en-US" sz="5400" dirty="0"/>
          </a:p>
        </p:txBody>
      </p:sp>
      <p:sp>
        <p:nvSpPr>
          <p:cNvPr id="5" name="Stat label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are rated 4 or 5</a:t>
            </a:r>
            <a:endParaRPr lang="en-US" sz="1600" dirty="0"/>
          </a:p>
        </p:txBody>
      </p:sp>
      <p:sp>
        <p:nvSpPr>
          <p:cNvPr id="6" name="Stat 5.5%"/>
          <p:cNvSpPr txBox="1"/>
          <p:nvPr/>
        </p:nvSpPr>
        <p:spPr>
          <a:xfrm>
            <a:off x="859536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5.5%</a:t>
            </a:r>
            <a:endParaRPr lang="en-US" sz="5400" dirty="0"/>
          </a:p>
        </p:txBody>
      </p:sp>
      <p:sp>
        <p:nvSpPr>
          <p:cNvPr id="7" name="Stat label"/>
          <p:cNvSpPr txBox="1"/>
          <p:nvPr/>
        </p:nvSpPr>
        <p:spPr>
          <a:xfrm>
            <a:off x="8595360" y="45262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are rated 0 to 2: 3,857 businesses, 283 of them at 0</a:t>
            </a:r>
            <a:endParaRPr lang="en-US" sz="1600" dirty="0"/>
          </a:p>
        </p:txBody>
      </p:sp>
      <p:sp>
        <p:nvSpPr>
          <p:cNvPr id="8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Share of 69,839 rated businesses. SQL: 10_Distribution_Analysis.sql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Five-star share ranges from 49% to 88% across boroughs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39 pts"/>
          <p:cNvSpPr txBox="1"/>
          <p:nvPr/>
        </p:nvSpPr>
        <p:spPr>
          <a:xfrm>
            <a:off x="859536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pts</a:t>
            </a:r>
            <a:endParaRPr lang="en-US" sz="5400" dirty="0"/>
          </a:p>
        </p:txBody>
      </p:sp>
      <p:sp>
        <p:nvSpPr>
          <p:cNvPr id="5" name="Stat label"/>
          <p:cNvSpPr txBox="1"/>
          <p:nvPr/>
        </p:nvSpPr>
        <p:spPr>
          <a:xfrm>
            <a:off x="8595360" y="2606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gap between the best and worst borough</a:t>
            </a:r>
            <a:endParaRPr lang="en-US" sz="1600" dirty="0"/>
          </a:p>
        </p:txBody>
      </p:sp>
      <p:sp>
        <p:nvSpPr>
          <p:cNvPr id="6" name="Chart note"/>
          <p:cNvSpPr txBox="1"/>
          <p:nvPr/>
        </p:nvSpPr>
        <p:spPr>
          <a:xfrm>
            <a:off x="8595360" y="35661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London average: 68.3% rated 5. Top five and bottom five of 33 boroughs shown, each with at least 30 rated businesses. Newham also has the highest share rated 0 to 2, at 14.2%.</a:t>
            </a:r>
            <a:endParaRPr lang="en-US" sz="1600" dirty="0"/>
          </a:p>
        </p:txBody>
      </p:sp>
      <p:sp>
        <p:nvSpPr>
          <p:cNvPr id="7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% of rated businesses with a 5. SQL: 11_Segment_Performance.sql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worst boroughs stay worst after adjusting for mix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How to read"/>
          <p:cNvSpPr txBox="1"/>
          <p:nvPr/>
        </p:nvSpPr>
        <p:spPr>
          <a:xfrm>
            <a:off x="8595360" y="1737360"/>
            <a:ext cx="3108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How to read it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Expected is the rating a borough would have if every business scored the London average for its type. Newham's actual average is 3.94 against an expected 4.43, so its gap is not just a takeaway-heavy mix.</a:t>
            </a:r>
            <a:endParaRPr lang="en-US" sz="1600" dirty="0"/>
          </a:p>
        </p:txBody>
      </p:sp>
      <p:sp>
        <p:nvSpPr>
          <p:cNvPr id="5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Gap = actual average rating minus expected average rating. SQL: 11_Segment_Performance.sql (query 11.4)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Schools and caring premises lead; takeaways and shops trail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86384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note"/>
          <p:cNvSpPr txBox="1"/>
          <p:nvPr/>
        </p:nvSpPr>
        <p:spPr>
          <a:xfrm>
            <a:off x="8778240" y="1737360"/>
            <a:ext cx="2926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Red bars are below the London average of 68.3%. The three weakest groups are also the three largest, which is why they matter most for the total.</a:t>
            </a:r>
            <a:endParaRPr lang="en-US" sz="1600" dirty="0"/>
          </a:p>
        </p:txBody>
      </p:sp>
      <p:sp>
        <p:nvSpPr>
          <p:cNvPr id="5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% of rated businesses with a 5. SQL: 11_Segment_Performance.sql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Other retailers: 19% of businesses, 31% of poor ratings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53%"/>
          <p:cNvSpPr txBox="1"/>
          <p:nvPr/>
        </p:nvSpPr>
        <p:spPr>
          <a:xfrm>
            <a:off x="8595360" y="18288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5400" dirty="0"/>
          </a:p>
        </p:txBody>
      </p:sp>
      <p:sp>
        <p:nvSpPr>
          <p:cNvPr id="5" name="Stat label"/>
          <p:cNvSpPr txBox="1"/>
          <p:nvPr/>
        </p:nvSpPr>
        <p:spPr>
          <a:xfrm>
            <a:off x="8595360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 all 0 to 2 ratings sit in 8 of the 33 boroughs</a:t>
            </a:r>
            <a:endParaRPr lang="en-US" sz="1600" dirty="0"/>
          </a:p>
        </p:txBody>
      </p:sp>
      <p:sp>
        <p:nvSpPr>
          <p:cNvPr id="6" name="Borough list"/>
          <p:cNvSpPr txBox="1"/>
          <p:nvPr/>
        </p:nvSpPr>
        <p:spPr>
          <a:xfrm>
            <a:off x="8595360" y="356616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Ealing, Newham, Westminster, Camden, Waltham Forest, Enfield, Hillingdon and Tower Hamlets.</a:t>
            </a:r>
            <a:endParaRPr lang="en-US" sz="1600" dirty="0"/>
          </a:p>
        </p:txBody>
      </p:sp>
      <p:sp>
        <p:nvSpPr>
          <p:cNvPr id="7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 group above its share of businesses is over-represented in poor ratings. SQL: 12_Part_To_Whole.sql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Management confidence separates failing from excellent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5448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hart note"/>
          <p:cNvSpPr txBox="1"/>
          <p:nvPr/>
        </p:nvSpPr>
        <p:spPr>
          <a:xfrm>
            <a:off x="548640" y="57607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Average score of a 0 to 2 business minus a 5-rated business. Lower score is better, so a bigger number means a bigger gap.</a:t>
            </a:r>
            <a:endParaRPr lang="en-US" sz="1200" dirty="0"/>
          </a:p>
        </p:txBody>
      </p:sp>
      <p:sp>
        <p:nvSpPr>
          <p:cNvPr id="5" name="Stat 45.5%"/>
          <p:cNvSpPr txBox="1"/>
          <p:nvPr/>
        </p:nvSpPr>
        <p:spPr>
          <a:xfrm>
            <a:off x="8229600" y="1737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45.5%</a:t>
            </a:r>
            <a:endParaRPr lang="en-US" sz="5400" dirty="0"/>
          </a:p>
        </p:txBody>
      </p:sp>
      <p:sp>
        <p:nvSpPr>
          <p:cNvPr id="6" name="Stat label"/>
          <p:cNvSpPr txBox="1"/>
          <p:nvPr/>
        </p:nvSpPr>
        <p:spPr>
          <a:xfrm>
            <a:off x="8229600" y="26060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of ratings were awarded in the last 12 months</a:t>
            </a:r>
            <a:endParaRPr lang="en-US" sz="1600" dirty="0"/>
          </a:p>
        </p:txBody>
      </p:sp>
      <p:sp>
        <p:nvSpPr>
          <p:cNvPr id="7" name="Stat 9.8%"/>
          <p:cNvSpPr txBox="1"/>
          <p:nvPr/>
        </p:nvSpPr>
        <p:spPr>
          <a:xfrm>
            <a:off x="8229600" y="33832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9.8%</a:t>
            </a:r>
            <a:endParaRPr lang="en-US" sz="5400" dirty="0"/>
          </a:p>
        </p:txBody>
      </p:sp>
      <p:sp>
        <p:nvSpPr>
          <p:cNvPr id="8" name="Stat label"/>
          <p:cNvSpPr txBox="1"/>
          <p:nvPr/>
        </p:nvSpPr>
        <p:spPr>
          <a:xfrm>
            <a:off x="8229600" y="42519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are older than 3 years</a:t>
            </a:r>
            <a:endParaRPr lang="en-US" sz="1600" dirty="0"/>
          </a:p>
        </p:txBody>
      </p:sp>
      <p:sp>
        <p:nvSpPr>
          <p:cNvPr id="9" name="Correlation note"/>
          <p:cNvSpPr txBox="1"/>
          <p:nvPr/>
        </p:nvSpPr>
        <p:spPr>
          <a:xfrm>
            <a:off x="8229600" y="50292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three sub-scores correlate 0.59 to 0.62 with each other; total score against rating is -0.86.</a:t>
            </a:r>
            <a:endParaRPr lang="en-US" sz="1400" dirty="0"/>
          </a:p>
        </p:txBody>
      </p:sp>
      <p:sp>
        <p:nvSpPr>
          <p:cNvPr id="10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SQL: 13_Rating_Freshness.sql, 14_Relationships_Subscores.sql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Caveats and next steps</a:t>
            </a:r>
            <a:endParaRPr lang="en-US" sz="3200" dirty="0"/>
          </a:p>
        </p:txBody>
      </p:sp>
      <p:sp>
        <p:nvSpPr>
          <p:cNvPr id="3" name="Caveats heading"/>
          <p:cNvSpPr txBox="1"/>
          <p:nvPr/>
        </p:nvSpPr>
        <p:spPr>
          <a:xfrm>
            <a:off x="54864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findings with care</a:t>
            </a:r>
            <a:endParaRPr lang="en-US" sz="2200" dirty="0"/>
          </a:p>
        </p:txBody>
      </p:sp>
      <p:sp>
        <p:nvSpPr>
          <p:cNvPr id="4" name="Caveats list"/>
          <p:cNvSpPr txBox="1"/>
          <p:nvPr/>
        </p:nvSpPr>
        <p:spPr>
          <a:xfrm>
            <a:off x="548640" y="224028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Businesses inspected in 2025 and 2026 look worse (6 to 9% rated 0 to 2, against about 1% in 2022 and 2023). Poor performers are re-inspected sooner, so this is probably a selection effect, not falling standards.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Each business shows only its latest rating, so there is no history per business.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July 2026 is a partial month: the data ends on 16 July.</a:t>
            </a:r>
            <a:endParaRPr lang="en-US" sz="1600" dirty="0"/>
          </a:p>
        </p:txBody>
      </p:sp>
      <p:sp>
        <p:nvSpPr>
          <p:cNvPr id="5" name="Next steps heading"/>
          <p:cNvSpPr txBox="1"/>
          <p:nvPr/>
        </p:nvSpPr>
        <p:spPr>
          <a:xfrm>
            <a:off x="6400800" y="164592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would do next</a:t>
            </a:r>
            <a:endParaRPr lang="en-US" sz="2200" dirty="0"/>
          </a:p>
        </p:txBody>
      </p:sp>
      <p:sp>
        <p:nvSpPr>
          <p:cNvPr id="6" name="Next steps list"/>
          <p:cNvSpPr txBox="1"/>
          <p:nvPr/>
        </p:nvSpPr>
        <p:spPr>
          <a:xfrm>
            <a:off x="6400800" y="224028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Build a Power BI dashboard on the fsa_rated view: borough ranking, business types and rating freshness.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 population and deprivation data to test why Newham, Waltham Forest and Ealing trail.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Re-pull the API every quarter to build a rating-change history.</a:t>
            </a:r>
            <a:endParaRPr lang="en-US" sz="1600" dirty="0"/>
          </a:p>
        </p:txBody>
      </p:sp>
      <p:sp>
        <p:nvSpPr>
          <p:cNvPr id="7" name="Source note"/>
          <p:cNvSpPr txBox="1"/>
          <p:nvPr/>
        </p:nvSpPr>
        <p:spPr>
          <a:xfrm>
            <a:off x="548640" y="6355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Full queries and the EDA framework are in the project README and the 2_EDA_by_SQL folder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od Hygiene Plain">
  <a:themeElements>
    <a:clrScheme name="Food Hygiene Plain">
      <a:dk1>
        <a:srgbClr val="222222"/>
      </a:dk1>
      <a:lt1>
        <a:srgbClr val="FFFFFF"/>
      </a:lt1>
      <a:dk2>
        <a:srgbClr val="5F5F5F"/>
      </a:dk2>
      <a:lt2>
        <a:srgbClr val="F1F0EE"/>
      </a:lt2>
      <a:accent1>
        <a:srgbClr val="B5372C"/>
      </a:accent1>
      <a:accent2>
        <a:srgbClr val="8A8A8A"/>
      </a:accent2>
      <a:accent3>
        <a:srgbClr val="4A4A4A"/>
      </a:accent3>
      <a:accent4>
        <a:srgbClr val="C9C6BF"/>
      </a:accent4>
      <a:accent5>
        <a:srgbClr val="6E6E6E"/>
      </a:accent5>
      <a:accent6>
        <a:srgbClr val="A9A9A9"/>
      </a:accent6>
      <a:hlink>
        <a:srgbClr val="B5372C"/>
      </a:hlink>
      <a:folHlink>
        <a:srgbClr val="5F5F5F"/>
      </a:folHlink>
    </a:clrScheme>
    <a:fontScheme name="Food Hygiene Plai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Food Retail Insights</dc:title>
  <dc:subject>PptxGenJS Presentation</dc:subject>
  <dc:creator>Faizanahmad Sangolli</dc:creator>
  <cp:lastModifiedBy>Faizanahmad Sangolli</cp:lastModifiedBy>
  <cp:revision>1</cp:revision>
  <dcterms:created xsi:type="dcterms:W3CDTF">2026-10-18T13:05:20Z</dcterms:created>
  <dcterms:modified xsi:type="dcterms:W3CDTF">2026-10-18T13:05:20Z</dcterms:modified>
</cp:coreProperties>
</file>